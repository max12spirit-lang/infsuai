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  <p:sldMasterId id="2147483672" r:id="rId3"/>
    <p:sldMasterId id="214748367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04841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5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96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365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A2CEA-4127-4425-A1EA-C1ED2B6D8C17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6950-AE4F-4E4F-919E-FE035B0CC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14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73607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8228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6033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4186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09111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652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5381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504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187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832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507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64387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6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8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0685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40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23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A297-C05B-4A1B-BC54-4DA26B4C6721}"/>
              </a:ext>
            </a:extLst>
          </p:cNvPr>
          <p:cNvSpPr txBox="1"/>
          <p:nvPr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134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52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>
          <p15:clr>
            <a:srgbClr val="F26B43"/>
          </p15:clr>
        </p15:guide>
        <p15:guide id="6" pos="36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718109"/>
            <a:ext cx="9144000" cy="2258146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dirty="0" smtClean="0"/>
              <a:t>«</a:t>
            </a:r>
            <a:r>
              <a:rPr lang="ru-RU" sz="3600" dirty="0"/>
              <a:t>Моя гражданская инициатива: Комплексная программа предотвращения</a:t>
            </a:r>
            <a:br>
              <a:rPr lang="ru-RU" sz="3600" dirty="0"/>
            </a:br>
            <a:r>
              <a:rPr lang="ru-RU" sz="3600" dirty="0"/>
              <a:t>подростковых суицидов в Новосибирской и Кемеровской областях "Безопасное детство:</a:t>
            </a:r>
            <a:br>
              <a:rPr lang="ru-RU" sz="3600" dirty="0"/>
            </a:br>
            <a:r>
              <a:rPr lang="ru-RU" sz="3600" dirty="0"/>
              <a:t>Новосибирск – Новокузнецк"»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996893"/>
            <a:ext cx="9144000" cy="1655762"/>
          </a:xfrm>
        </p:spPr>
        <p:txBody>
          <a:bodyPr>
            <a:normAutofit/>
          </a:bodyPr>
          <a:lstStyle/>
          <a:p>
            <a:r>
              <a:rPr lang="ru-RU" sz="2000" dirty="0"/>
              <a:t>Состав участников группы разработки:</a:t>
            </a:r>
          </a:p>
          <a:p>
            <a:pPr algn="l"/>
            <a:r>
              <a:rPr lang="ru-RU" sz="2000" dirty="0"/>
              <a:t>• Спиридонов Максим (Графический дизайнер)</a:t>
            </a:r>
          </a:p>
          <a:p>
            <a:pPr algn="l"/>
            <a:r>
              <a:rPr lang="ru-RU" sz="2000" dirty="0"/>
              <a:t>• Малыгин Артём (Руководитель проекта / Сотрудник проектной группы)</a:t>
            </a:r>
          </a:p>
        </p:txBody>
      </p:sp>
    </p:spTree>
    <p:extLst>
      <p:ext uri="{BB962C8B-B14F-4D97-AF65-F5344CB8AC3E}">
        <p14:creationId xmlns:p14="http://schemas.microsoft.com/office/powerpoint/2010/main" val="1107458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ролей в команде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1517415"/>
            <a:ext cx="11128519" cy="3798451"/>
          </a:xfrm>
        </p:spPr>
      </p:pic>
    </p:spTree>
    <p:extLst>
      <p:ext uri="{BB962C8B-B14F-4D97-AF65-F5344CB8AC3E}">
        <p14:creationId xmlns:p14="http://schemas.microsoft.com/office/powerpoint/2010/main" val="327868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Регион и социальная значимость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Регион: Сибирский федеральный округ (СФО): Новосибирская область и Кемеровская область —</a:t>
            </a:r>
          </a:p>
          <a:p>
            <a:r>
              <a:rPr lang="ru-RU" dirty="0"/>
              <a:t>Кузбасс (в частности города Новосибирск и Новокузнецк).</a:t>
            </a:r>
          </a:p>
          <a:p>
            <a:r>
              <a:rPr lang="ru-RU" dirty="0"/>
              <a:t>Социальная значимость проекта:</a:t>
            </a:r>
          </a:p>
          <a:p>
            <a:r>
              <a:rPr lang="ru-RU" dirty="0"/>
              <a:t>• Влияние на уровень благосостояния и качество жизни: Снижение смертности подростков от</a:t>
            </a:r>
          </a:p>
          <a:p>
            <a:r>
              <a:rPr lang="ru-RU" dirty="0"/>
              <a:t>внешних причин, оперативное выявление скрытой депрессии.</a:t>
            </a:r>
          </a:p>
          <a:p>
            <a:r>
              <a:rPr lang="ru-RU" dirty="0"/>
              <a:t>• Создание новых возможностей: Предоставление старшеклассникам круглосуточного</a:t>
            </a:r>
          </a:p>
          <a:p>
            <a:r>
              <a:rPr lang="ru-RU" dirty="0"/>
              <a:t>бесплатного доступа к квалифицированной психологической помощи анонимно.</a:t>
            </a:r>
          </a:p>
          <a:p>
            <a:r>
              <a:rPr lang="ru-RU" dirty="0"/>
              <a:t>• Укрепление социальных связей: Просвещение родительского сообщества, снижение уровня</a:t>
            </a:r>
          </a:p>
          <a:p>
            <a:r>
              <a:rPr lang="ru-RU" dirty="0"/>
              <a:t>агрессии и непонимания внутри семей.</a:t>
            </a:r>
          </a:p>
          <a:p>
            <a:r>
              <a:rPr lang="ru-RU" dirty="0"/>
              <a:t>• Вклад в развитие регионов: Создание первой межрегиональной цифровой сети кризисного</a:t>
            </a:r>
          </a:p>
          <a:p>
            <a:r>
              <a:rPr lang="ru-RU" dirty="0"/>
              <a:t>мониторинга в Сибири.</a:t>
            </a:r>
          </a:p>
          <a:p>
            <a:r>
              <a:rPr lang="ru-RU" dirty="0"/>
              <a:t>Целевая аудитория: Школьники и учащиеся техникумов/колледжей (14–17 лет), их родители,</a:t>
            </a:r>
          </a:p>
          <a:p>
            <a:r>
              <a:rPr lang="ru-RU" dirty="0"/>
              <a:t>социальные педагоги и школьные психологи.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13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9188882" cy="4782271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Цель проекта: Создание эффективной системы раннего выявления суицидальных намерений и</a:t>
            </a:r>
          </a:p>
          <a:p>
            <a:r>
              <a:rPr lang="ru-RU" dirty="0"/>
              <a:t>оказания экстренной психологической помощи старшеклассникам Новосибирской и</a:t>
            </a:r>
          </a:p>
          <a:p>
            <a:r>
              <a:rPr lang="ru-RU" dirty="0"/>
              <a:t>Кемеровской областях для снижения числа повторных попыток суицида на 20% к концу цикла</a:t>
            </a:r>
          </a:p>
          <a:p>
            <a:r>
              <a:rPr lang="ru-RU" dirty="0"/>
              <a:t>реализации.</a:t>
            </a:r>
          </a:p>
          <a:p>
            <a:r>
              <a:rPr lang="ru-RU" dirty="0"/>
              <a:t>Задачи проекта:</a:t>
            </a:r>
          </a:p>
          <a:p>
            <a:r>
              <a:rPr lang="ru-RU" dirty="0"/>
              <a:t>1. Разработать единый анонимный межрегиональный чат-бот психологической поддержки</a:t>
            </a:r>
          </a:p>
          <a:p>
            <a:r>
              <a:rPr lang="ru-RU" dirty="0"/>
              <a:t>«Сибирский Подросток».</a:t>
            </a:r>
          </a:p>
          <a:p>
            <a:r>
              <a:rPr lang="ru-RU" dirty="0"/>
              <a:t>2. Запустить программу экспресс-обучения для педагогов по распознаванию маркеров</a:t>
            </a:r>
          </a:p>
          <a:p>
            <a:r>
              <a:rPr lang="ru-RU" dirty="0" err="1"/>
              <a:t>предсуицидального</a:t>
            </a:r>
            <a:r>
              <a:rPr lang="ru-RU" dirty="0"/>
              <a:t> синдрома и </a:t>
            </a:r>
            <a:r>
              <a:rPr lang="ru-RU" dirty="0" err="1"/>
              <a:t>буллинга</a:t>
            </a:r>
            <a:r>
              <a:rPr lang="ru-RU" dirty="0"/>
              <a:t>.</a:t>
            </a:r>
          </a:p>
          <a:p>
            <a:r>
              <a:rPr lang="ru-RU" dirty="0"/>
              <a:t>3. Организовать адресную социальную рекламу в сибирских сегментах </a:t>
            </a:r>
            <a:r>
              <a:rPr lang="ru-RU" dirty="0" err="1"/>
              <a:t>соцсетей</a:t>
            </a:r>
            <a:r>
              <a:rPr lang="ru-RU" dirty="0"/>
              <a:t>.</a:t>
            </a:r>
          </a:p>
          <a:p>
            <a:r>
              <a:rPr lang="ru-RU" dirty="0"/>
              <a:t>4. Создать базу волонтеров-психологов из числа магистрантов профильных вузов регионов</a:t>
            </a:r>
          </a:p>
          <a:p>
            <a:r>
              <a:rPr lang="ru-RU" dirty="0"/>
              <a:t>(НГПУ, ТГУ, </a:t>
            </a:r>
            <a:r>
              <a:rPr lang="ru-RU" dirty="0" err="1"/>
              <a:t>КемГУ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2551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финансирования и бюджет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706446" cy="4685289"/>
          </a:xfrm>
        </p:spPr>
        <p:txBody>
          <a:bodyPr>
            <a:normAutofit/>
          </a:bodyPr>
          <a:lstStyle/>
          <a:p>
            <a:r>
              <a:rPr lang="ru-RU" dirty="0"/>
              <a:t>Государственные: Фонд президентских грантов, гранты Министерства образования Новосибирской области и Министерства образования Кузбасса, </a:t>
            </a:r>
            <a:r>
              <a:rPr lang="ru-RU" dirty="0" err="1"/>
              <a:t>Росмолодёжь.Гранты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Частные</a:t>
            </a:r>
            <a:r>
              <a:rPr lang="ru-RU" dirty="0"/>
              <a:t>: Конкурсы Благотворительного фонда «Абсолют-Помощь», Благотворительный фонд Владимира Потанина, спонсорская поддержка индустриальных компаний СФО. </a:t>
            </a:r>
            <a:endParaRPr lang="ru-RU" dirty="0" smtClean="0"/>
          </a:p>
          <a:p>
            <a:r>
              <a:rPr lang="ru-RU" dirty="0" smtClean="0"/>
              <a:t>Примерный </a:t>
            </a:r>
            <a:r>
              <a:rPr lang="ru-RU" dirty="0"/>
              <a:t>бюджет: Разработка чат-бота (250 000 руб.), печать памяток (180 000 руб.), онлайн-</a:t>
            </a:r>
            <a:r>
              <a:rPr lang="ru-RU" dirty="0" err="1"/>
              <a:t>интенсив</a:t>
            </a:r>
            <a:r>
              <a:rPr lang="ru-RU" dirty="0"/>
              <a:t> для психологов (120 </a:t>
            </a:r>
            <a:r>
              <a:rPr lang="ru-RU" dirty="0" smtClean="0"/>
              <a:t>000 руб.), </a:t>
            </a:r>
            <a:r>
              <a:rPr lang="ru-RU" dirty="0" err="1"/>
              <a:t>digital</a:t>
            </a:r>
            <a:r>
              <a:rPr lang="ru-RU" dirty="0"/>
              <a:t>-реклама (150 000 руб.). Итого: 700 000 </a:t>
            </a:r>
            <a:r>
              <a:rPr lang="ru-RU" dirty="0" smtClean="0"/>
              <a:t>руб.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98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082992" cy="5040312"/>
          </a:xfrm>
        </p:spPr>
        <p:txBody>
          <a:bodyPr/>
          <a:lstStyle/>
          <a:p>
            <a:r>
              <a:rPr lang="ru-RU" dirty="0"/>
              <a:t>Основная идея: Трехступенчатый защитный контур вокруг подростка в условиях сибирских промышленных центров. Включает анонимный чат-бот мгновенного реагирования, просвещение классных руководителей и систему «живых» памяток на школьных стендах с QR-кодами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Визуальный </a:t>
            </a:r>
            <a:r>
              <a:rPr lang="ru-RU" dirty="0"/>
              <a:t>контент: Дизайн в доверительных тонах по </a:t>
            </a:r>
            <a:r>
              <a:rPr lang="ru-RU" dirty="0" err="1"/>
              <a:t>брендбуку</a:t>
            </a:r>
            <a:r>
              <a:rPr lang="ru-RU" dirty="0"/>
              <a:t> ГУАП. Логотип «Сибирский Подросток», </a:t>
            </a:r>
            <a:r>
              <a:rPr lang="ru-RU" dirty="0" err="1"/>
              <a:t>инфографические</a:t>
            </a:r>
            <a:r>
              <a:rPr lang="ru-RU" dirty="0"/>
              <a:t> карты маркеров тревожности для учителей, макеты </a:t>
            </a:r>
            <a:r>
              <a:rPr lang="ru-RU" dirty="0" err="1"/>
              <a:t>стикеров</a:t>
            </a:r>
            <a:r>
              <a:rPr lang="ru-RU" dirty="0"/>
              <a:t> для школ Новосибирска и Новокузнецка.</a:t>
            </a:r>
          </a:p>
        </p:txBody>
      </p:sp>
    </p:spTree>
    <p:extLst>
      <p:ext uri="{BB962C8B-B14F-4D97-AF65-F5344CB8AC3E}">
        <p14:creationId xmlns:p14="http://schemas.microsoft.com/office/powerpoint/2010/main" val="3824496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этапы реализации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ru-RU" dirty="0" smtClean="0"/>
              <a:t>Инициация </a:t>
            </a:r>
            <a:r>
              <a:rPr lang="ru-RU" dirty="0"/>
              <a:t>(Месяцы 1–2): Соглашения с молодежными ведомствами, привлечение специалистов клинических больниц.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Планирование </a:t>
            </a:r>
            <a:r>
              <a:rPr lang="ru-RU" dirty="0"/>
              <a:t>(Месяцы 3–4): Разработка скриптов для бота, подготовка методических рекомендаций и визуального стиля.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Выполнение </a:t>
            </a:r>
            <a:r>
              <a:rPr lang="ru-RU" dirty="0"/>
              <a:t>(Месяцы 5–9): Программирование бота, пилотные семинары в Центральном/Октябрьском районах Новосибирска и Центральном/Заводском районах Новокузнецка.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Контроль </a:t>
            </a:r>
            <a:r>
              <a:rPr lang="ru-RU" dirty="0"/>
              <a:t>за выполнением (Месяцы 10–11): Мониторинг времени ответа психологов, анализ переходов по QR-кодам. 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Завершение </a:t>
            </a:r>
            <a:r>
              <a:rPr lang="ru-RU" dirty="0"/>
              <a:t>(Месяц 12): Анализ динамики инцидентов, подготовка итоговой презентации проекта. </a:t>
            </a:r>
          </a:p>
        </p:txBody>
      </p:sp>
    </p:spTree>
    <p:extLst>
      <p:ext uri="{BB962C8B-B14F-4D97-AF65-F5344CB8AC3E}">
        <p14:creationId xmlns:p14="http://schemas.microsoft.com/office/powerpoint/2010/main" val="2476481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Ожидаемые результаты и риски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50863" y="1552498"/>
            <a:ext cx="10518453" cy="336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93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4382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ГУАП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ГУАП" id="{FB700B33-55E6-42BD-80B4-4602CAA92DAA}" vid="{7226E1DE-5D9A-4BEA-AF8F-79A94BD10AF0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ТемаГУАП</Template>
  <TotalTime>41</TotalTime>
  <Words>489</Words>
  <Application>Microsoft Office PowerPoint</Application>
  <PresentationFormat>Широкоэкранный</PresentationFormat>
  <Paragraphs>46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Wingdings</vt:lpstr>
      <vt:lpstr>ТемаГУАП</vt:lpstr>
      <vt:lpstr>Текстовые блоки</vt:lpstr>
      <vt:lpstr>Универсальные блоки - таблицы, рисунки, диаграммы</vt:lpstr>
      <vt:lpstr>Дополнительные блоки</vt:lpstr>
      <vt:lpstr>«Моя гражданская инициатива: Комплексная программа предотвращения подростковых суицидов в Новосибирской и Кемеровской областях "Безопасное детство: Новосибирск – Новокузнецк"» </vt:lpstr>
      <vt:lpstr>Распределение ролей в команде </vt:lpstr>
      <vt:lpstr>Регион и социальная значимость</vt:lpstr>
      <vt:lpstr>Цель и задачи проекта</vt:lpstr>
      <vt:lpstr>Источники финансирования и бюджет</vt:lpstr>
      <vt:lpstr>Описание проекта</vt:lpstr>
      <vt:lpstr>Основные этапы реализации </vt:lpstr>
      <vt:lpstr>Ожидаемые результаты и риски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проекта: «Моя гражданская инициатива: Комплексная программа предотвращения подростковых суицидов в Новосибирской и Кемеровской областях "Безопасное детство: Новосибирск – Новокузнецк"» </dc:title>
  <dc:creator>molni</dc:creator>
  <cp:lastModifiedBy>molni</cp:lastModifiedBy>
  <cp:revision>5</cp:revision>
  <dcterms:created xsi:type="dcterms:W3CDTF">2026-10-25T19:49:45Z</dcterms:created>
  <dcterms:modified xsi:type="dcterms:W3CDTF">2026-10-25T20:31:42Z</dcterms:modified>
</cp:coreProperties>
</file>